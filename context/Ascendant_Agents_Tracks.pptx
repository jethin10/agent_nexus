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</p:sldIdLst>
  <p:sldSz cx="9144000" cy="5143500" type="screen16x9"/>
  <p:notesSz cx="5143500" cy="9144000"/>
  <p:embeddedFontLst>
    <p:embeddedFont>
      <p:font typeface="Quattrocento Sans" panose="020B0502050000020003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hxxCXUHG0HcC6mU+Ic7EHinP+N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5" Type="http://schemas.openxmlformats.org/officeDocument/2006/relationships/image" Target="../media/image16.png"/><Relationship Id="rId10" Type="http://schemas.openxmlformats.org/officeDocument/2006/relationships/image" Target="../media/image8.png"/><Relationship Id="rId19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4;p1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" name="Google Shape;15;p1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6;p1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7;p1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1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0;p1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21;p1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4" name="Google Shape;24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1" descr="preencoded.png"/>
          <p:cNvPicPr preferRelativeResize="0"/>
          <p:nvPr/>
        </p:nvPicPr>
        <p:blipFill rotWithShape="1">
          <a:blip r:embed="rId8">
            <a:alphaModFix amt="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/>
          <p:nvPr/>
        </p:nvSpPr>
        <p:spPr>
          <a:xfrm>
            <a:off x="1097235" y="771525"/>
            <a:ext cx="21431" cy="21431"/>
          </a:xfrm>
          <a:prstGeom prst="ellipse">
            <a:avLst/>
          </a:prstGeom>
          <a:solidFill>
            <a:srgbClr val="3ECFCF">
              <a:alpha val="1803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772400" y="1285875"/>
            <a:ext cx="14288" cy="14288"/>
          </a:xfrm>
          <a:prstGeom prst="ellipse">
            <a:avLst/>
          </a:prstGeom>
          <a:solidFill>
            <a:srgbClr val="C9A84C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31453" y="3600450"/>
            <a:ext cx="28575" cy="28575"/>
          </a:xfrm>
          <a:prstGeom prst="ellipse">
            <a:avLst/>
          </a:prstGeom>
          <a:solidFill>
            <a:srgbClr val="3ECFC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8412435" y="3086100"/>
            <a:ext cx="14288" cy="14288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2743200" y="4114800"/>
            <a:ext cx="21431" cy="21431"/>
          </a:xfrm>
          <a:prstGeom prst="ellipse">
            <a:avLst/>
          </a:prstGeom>
          <a:solidFill>
            <a:srgbClr val="C9A84C">
              <a:alpha val="784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5029200" y="925785"/>
            <a:ext cx="14288" cy="14288"/>
          </a:xfrm>
          <a:prstGeom prst="ellipse">
            <a:avLst/>
          </a:prstGeom>
          <a:solidFill>
            <a:srgbClr val="3ECFCF">
              <a:alpha val="1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6400800" y="3857625"/>
            <a:ext cx="35719" cy="35719"/>
          </a:xfrm>
          <a:prstGeom prst="ellipse">
            <a:avLst/>
          </a:prstGeom>
          <a:solidFill>
            <a:srgbClr val="C9A84C">
              <a:alpha val="588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8686800" y="2057400"/>
            <a:ext cx="14288" cy="14288"/>
          </a:xfrm>
          <a:prstGeom prst="ellipse">
            <a:avLst/>
          </a:prstGeom>
          <a:solidFill>
            <a:srgbClr val="3ECFCF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4572000" y="4526235"/>
            <a:ext cx="21431" cy="21431"/>
          </a:xfrm>
          <a:prstGeom prst="ellipse">
            <a:avLst/>
          </a:prstGeom>
          <a:solidFill>
            <a:srgbClr val="3ECFCF">
              <a:alpha val="1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457200" y="1800225"/>
            <a:ext cx="14288" cy="14288"/>
          </a:xfrm>
          <a:prstGeom prst="ellipse">
            <a:avLst/>
          </a:prstGeom>
          <a:solidFill>
            <a:srgbClr val="C9A84C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7132253" y="2571750"/>
            <a:ext cx="28575" cy="28575"/>
          </a:xfrm>
          <a:prstGeom prst="ellipse">
            <a:avLst/>
          </a:prstGeom>
          <a:solidFill>
            <a:srgbClr val="3ECFCF">
              <a:alpha val="705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3657600" y="514350"/>
            <a:ext cx="14288" cy="14288"/>
          </a:xfrm>
          <a:prstGeom prst="ellipse">
            <a:avLst/>
          </a:prstGeom>
          <a:solidFill>
            <a:srgbClr val="C9A84C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4115916" y="1963080"/>
            <a:ext cx="912056" cy="250031"/>
          </a:xfrm>
          <a:prstGeom prst="rect">
            <a:avLst/>
          </a:prstGeom>
          <a:noFill/>
          <a:ln>
            <a:noFill/>
          </a:ln>
          <a:effectLst>
            <a:outerShdw blurRad="171450" dist="50800" dir="16200000" algn="bl" rotWithShape="0">
              <a:srgbClr val="C9A84C">
                <a:alpha val="50196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687"/>
              <a:buFont typeface="Quattrocento Sans"/>
              <a:buNone/>
            </a:pPr>
            <a:r>
              <a:rPr lang="en-US" sz="1688" b="0" i="0" u="none" strike="noStrike" cap="none">
                <a:solidFill>
                  <a:srgbClr val="C9A84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♛ ♛ ♛</a:t>
            </a:r>
            <a:endParaRPr sz="168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1452768" y="2255836"/>
            <a:ext cx="6276771" cy="543081"/>
          </a:xfrm>
          <a:prstGeom prst="rect">
            <a:avLst/>
          </a:prstGeom>
          <a:noFill/>
          <a:ln>
            <a:noFill/>
          </a:ln>
          <a:effectLst>
            <a:outerShdw blurRad="190500" dist="50800" dir="16200000" algn="bl" rotWithShape="0">
              <a:srgbClr val="C9A84C">
                <a:alpha val="50196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ASCENDANT AGENTS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1" descr="preencoded.png"/>
          <p:cNvPicPr preferRelativeResize="0"/>
          <p:nvPr/>
        </p:nvPicPr>
        <p:blipFill rotWithShape="1">
          <a:blip r:embed="rId11">
            <a:alphaModFix amt="70000"/>
          </a:blip>
          <a:srcRect/>
          <a:stretch/>
        </p:blipFill>
        <p:spPr>
          <a:xfrm>
            <a:off x="3786188" y="3173164"/>
            <a:ext cx="1571625" cy="714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/>
          <p:nvPr/>
        </p:nvSpPr>
        <p:spPr>
          <a:xfrm>
            <a:off x="2286000" y="2255836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2286000" y="2255836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pic>
        <p:nvPicPr>
          <p:cNvPr id="54" name="Google Shape;54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2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2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2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2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2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2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" name="Google Shape;68;p2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" name="Google Shape;69;p2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2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2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2" name="Google Shape;72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2" descr="preencoded.png"/>
          <p:cNvPicPr preferRelativeResize="0"/>
          <p:nvPr/>
        </p:nvPicPr>
        <p:blipFill rotWithShape="1">
          <a:blip r:embed="rId8">
            <a:alphaModFix amt="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0037" y="1065685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/>
          <p:nvPr/>
        </p:nvSpPr>
        <p:spPr>
          <a:xfrm>
            <a:off x="432197" y="1075134"/>
            <a:ext cx="8279700" cy="3707700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3003166" y="678656"/>
            <a:ext cx="3137669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/>
              <a:buNone/>
            </a:pPr>
            <a:r>
              <a:rPr lang="en-US" sz="1688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 01</a:t>
            </a:r>
            <a:endParaRPr sz="16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sp>
        <p:nvSpPr>
          <p:cNvPr id="500" name="TrackContent"/>
          <p:cNvSpPr txBox="1"/>
          <p:nvPr/>
        </p:nvSpPr>
        <p:spPr>
          <a:xfrm>
            <a:off x="520000" y="1160000"/>
            <a:ext cx="8100000" cy="3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endParaRPr lang="en-US" sz="2400" b="1" dirty="0">
              <a:solidFill>
                <a:srgbClr val="C9A84C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9A84C"/>
                </a:solidFill>
                <a:latin typeface="Arial"/>
                <a:ea typeface="Arial"/>
                <a:cs typeface="Arial"/>
              </a:rPr>
              <a:t>AI Recruitment Screening Agent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An AI agent that helps companies hire faster:</a:t>
            </a:r>
          </a:p>
          <a:p>
            <a:pPr marL="0" marR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endParaRPr lang="en-US" sz="1400" i="1" dirty="0">
              <a:solidFill>
                <a:srgbClr val="E8DCC8"/>
              </a:solidFill>
              <a:latin typeface="Arial"/>
              <a:ea typeface="Arial"/>
              <a:cs typeface="Arial"/>
            </a:endParaRPr>
          </a:p>
          <a:p>
            <a:pPr marL="285750" marR="0" lvl="0" indent="-228600" algn="just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Parses and ranks resumes against a job description.</a:t>
            </a:r>
          </a:p>
          <a:p>
            <a:pPr marL="285750" marR="0" lvl="0" indent="-228600" algn="just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Auto-schedules interviews based on availability.</a:t>
            </a:r>
          </a:p>
          <a:p>
            <a:pPr marL="285750" marR="0" lvl="0" indent="-228600" algn="just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Drafts personalized candidate emails.</a:t>
            </a:r>
          </a:p>
          <a:p>
            <a:pPr marL="0" marR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rgbClr val="3ECFCF"/>
                </a:solidFill>
                <a:latin typeface="Arial"/>
                <a:ea typeface="Arial"/>
                <a:cs typeface="Arial"/>
              </a:rPr>
              <a:t>Bonus: Flags potential bias in the shortlist.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2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2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2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2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2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2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" name="Google Shape;68;p2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" name="Google Shape;69;p2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2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2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2" name="Google Shape;72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2" descr="preencoded.png"/>
          <p:cNvPicPr preferRelativeResize="0"/>
          <p:nvPr/>
        </p:nvPicPr>
        <p:blipFill rotWithShape="1">
          <a:blip r:embed="rId7">
            <a:alphaModFix amt="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0037" y="1065685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/>
          <p:nvPr/>
        </p:nvSpPr>
        <p:spPr>
          <a:xfrm>
            <a:off x="432197" y="1075134"/>
            <a:ext cx="8279700" cy="3707700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3003166" y="678656"/>
            <a:ext cx="3137669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/>
              <a:buNone/>
            </a:pPr>
            <a:r>
              <a:rPr lang="en-US" sz="1688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 02</a:t>
            </a:r>
            <a:endParaRPr sz="16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sp>
        <p:nvSpPr>
          <p:cNvPr id="500" name="TrackContent"/>
          <p:cNvSpPr txBox="1"/>
          <p:nvPr/>
        </p:nvSpPr>
        <p:spPr>
          <a:xfrm>
            <a:off x="520000" y="1160000"/>
            <a:ext cx="8100000" cy="3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endParaRPr lang="en-US" sz="2400" b="1" dirty="0">
              <a:solidFill>
                <a:srgbClr val="C9A84C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9A84C"/>
                </a:solidFill>
                <a:latin typeface="Arial"/>
                <a:ea typeface="Arial"/>
                <a:cs typeface="Arial"/>
              </a:rPr>
              <a:t>AI Travel Concierge</a:t>
            </a:r>
          </a:p>
          <a:p>
            <a:pPr marL="0" marR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An AI agent that plans and adapts trips in real time:</a:t>
            </a:r>
          </a:p>
          <a:p>
            <a:pPr marL="0" marR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endParaRPr lang="en-US" sz="1400" i="1" dirty="0">
              <a:solidFill>
                <a:srgbClr val="E8DCC8"/>
              </a:solidFill>
              <a:latin typeface="Arial"/>
              <a:ea typeface="Arial"/>
              <a:cs typeface="Arial"/>
            </a:endParaRP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Builds itineraries from budget, dates, and interests.</a:t>
            </a: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Rebooks around flight delays or bad weather.</a:t>
            </a: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Recommends local food, stays, and hidden gems.</a:t>
            </a: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rgbClr val="3ECFCF"/>
                </a:solidFill>
                <a:latin typeface="Arial"/>
                <a:ea typeface="Arial"/>
                <a:cs typeface="Arial"/>
              </a:rPr>
              <a:t>Bonus: Finds the lowest total cost across booking sites.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2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2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2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2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2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2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" name="Google Shape;68;p2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" name="Google Shape;69;p2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2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2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2" name="Google Shape;72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2" descr="preencoded.png"/>
          <p:cNvPicPr preferRelativeResize="0"/>
          <p:nvPr/>
        </p:nvPicPr>
        <p:blipFill rotWithShape="1">
          <a:blip r:embed="rId7">
            <a:alphaModFix amt="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0037" y="1065685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/>
          <p:nvPr/>
        </p:nvSpPr>
        <p:spPr>
          <a:xfrm>
            <a:off x="432197" y="1075134"/>
            <a:ext cx="8279700" cy="3707700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3003166" y="678656"/>
            <a:ext cx="3137669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/>
              <a:buNone/>
            </a:pPr>
            <a:r>
              <a:rPr lang="en-US" sz="1688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 03</a:t>
            </a:r>
            <a:endParaRPr sz="16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sp>
        <p:nvSpPr>
          <p:cNvPr id="500" name="TrackContent"/>
          <p:cNvSpPr txBox="1"/>
          <p:nvPr/>
        </p:nvSpPr>
        <p:spPr>
          <a:xfrm>
            <a:off x="520000" y="1160000"/>
            <a:ext cx="8100000" cy="3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endParaRPr lang="en-US" sz="2400" b="1" dirty="0">
              <a:solidFill>
                <a:srgbClr val="C9A84C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9A84C"/>
                </a:solidFill>
                <a:latin typeface="Arial"/>
                <a:ea typeface="Arial"/>
                <a:cs typeface="Arial"/>
              </a:rPr>
              <a:t>AI Social Media Manager</a:t>
            </a:r>
          </a:p>
          <a:p>
            <a:pPr marL="0" marR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An AI agent that runs a brand's day-to-day content:</a:t>
            </a:r>
          </a:p>
          <a:p>
            <a:pPr marL="0" marR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endParaRPr lang="en-US" sz="1400" i="1" dirty="0">
              <a:solidFill>
                <a:srgbClr val="E8DCC8"/>
              </a:solidFill>
              <a:latin typeface="Arial"/>
              <a:ea typeface="Arial"/>
              <a:cs typeface="Arial"/>
            </a:endParaRP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Generates on-brand captions, posts, and hashtags.</a:t>
            </a: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Schedules posts for peak engagement windows.</a:t>
            </a: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Tracks comments and engagement trends.</a:t>
            </a: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rgbClr val="3ECFCF"/>
                </a:solidFill>
                <a:latin typeface="Arial"/>
                <a:ea typeface="Arial"/>
                <a:cs typeface="Arial"/>
              </a:rPr>
              <a:t>Bonus: Auto-replies to common comments/DMs in the brand voice.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2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2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2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2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2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2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" name="Google Shape;68;p2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" name="Google Shape;69;p2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2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2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2" name="Google Shape;72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2" descr="preencoded.png"/>
          <p:cNvPicPr preferRelativeResize="0"/>
          <p:nvPr/>
        </p:nvPicPr>
        <p:blipFill rotWithShape="1">
          <a:blip r:embed="rId7">
            <a:alphaModFix amt="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0037" y="1065685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/>
          <p:nvPr/>
        </p:nvSpPr>
        <p:spPr>
          <a:xfrm>
            <a:off x="432197" y="1075134"/>
            <a:ext cx="8279700" cy="3707700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3003166" y="678656"/>
            <a:ext cx="3137669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/>
              <a:buNone/>
            </a:pPr>
            <a:r>
              <a:rPr lang="en-US" sz="1688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 04</a:t>
            </a:r>
            <a:endParaRPr sz="16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sp>
        <p:nvSpPr>
          <p:cNvPr id="500" name="TrackContent"/>
          <p:cNvSpPr txBox="1"/>
          <p:nvPr/>
        </p:nvSpPr>
        <p:spPr>
          <a:xfrm>
            <a:off x="522000" y="1129156"/>
            <a:ext cx="8100000" cy="3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endParaRPr lang="en-US" sz="2400" b="1" dirty="0">
              <a:solidFill>
                <a:srgbClr val="C9A84C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9A84C"/>
                </a:solidFill>
                <a:latin typeface="Arial"/>
                <a:ea typeface="Arial"/>
                <a:cs typeface="Arial"/>
              </a:rPr>
              <a:t>AI Academic Research Assistant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An AI agent that speeds up literature review:</a:t>
            </a:r>
          </a:p>
          <a:p>
            <a:pPr marL="0" marR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endParaRPr lang="en-US" sz="1400" i="1" dirty="0">
              <a:solidFill>
                <a:srgbClr val="E8DCC8"/>
              </a:solidFill>
              <a:latin typeface="Arial"/>
              <a:ea typeface="Arial"/>
              <a:cs typeface="Arial"/>
            </a:endParaRP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Searches and summarizes relevant papers on a topic.</a:t>
            </a: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Extracts key findings, methods, and citations.</a:t>
            </a: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Organizes sources into a structured bibliography.</a:t>
            </a: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rgbClr val="3ECFCF"/>
                </a:solidFill>
                <a:latin typeface="Arial"/>
                <a:ea typeface="Arial"/>
                <a:cs typeface="Arial"/>
              </a:rPr>
              <a:t>Bonus: Flags contradicting findings across papers.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2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2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2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2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2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2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" name="Google Shape;68;p2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" name="Google Shape;69;p2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2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2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2" name="Google Shape;72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2" descr="preencoded.png"/>
          <p:cNvPicPr preferRelativeResize="0"/>
          <p:nvPr/>
        </p:nvPicPr>
        <p:blipFill rotWithShape="1">
          <a:blip r:embed="rId7">
            <a:alphaModFix amt="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0037" y="1065685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/>
          <p:nvPr/>
        </p:nvSpPr>
        <p:spPr>
          <a:xfrm>
            <a:off x="432197" y="1075134"/>
            <a:ext cx="8279700" cy="3707700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3003166" y="678656"/>
            <a:ext cx="3137669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/>
              <a:buNone/>
            </a:pPr>
            <a:r>
              <a:rPr lang="en-US" sz="1688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 05</a:t>
            </a:r>
            <a:endParaRPr sz="16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sp>
        <p:nvSpPr>
          <p:cNvPr id="500" name="TrackContent"/>
          <p:cNvSpPr txBox="1"/>
          <p:nvPr/>
        </p:nvSpPr>
        <p:spPr>
          <a:xfrm>
            <a:off x="520000" y="1160000"/>
            <a:ext cx="8100000" cy="3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endParaRPr lang="en-US" sz="2400" b="1" dirty="0">
              <a:solidFill>
                <a:srgbClr val="C9A84C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9A84C"/>
                </a:solidFill>
                <a:latin typeface="Arial"/>
                <a:ea typeface="Arial"/>
                <a:cs typeface="Arial"/>
              </a:rPr>
              <a:t>AI Language Learning Tutor</a:t>
            </a:r>
          </a:p>
          <a:p>
            <a:pPr marL="0" marR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An AI agent that adapts to how a learner actually learns:</a:t>
            </a:r>
          </a:p>
          <a:p>
            <a:pPr marL="0" marR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endParaRPr lang="en-US" sz="1400" i="1" dirty="0">
              <a:solidFill>
                <a:srgbClr val="E8DCC8"/>
              </a:solidFill>
              <a:latin typeface="Arial"/>
              <a:ea typeface="Arial"/>
              <a:cs typeface="Arial"/>
            </a:endParaRP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Holds real conversations at the learner's level.</a:t>
            </a: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Corrects mistakes with context-aware explanations.</a:t>
            </a: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Adjusts difficulty as proficiency improves.</a:t>
            </a: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rgbClr val="3ECFCF"/>
                </a:solidFill>
                <a:latin typeface="Arial"/>
                <a:ea typeface="Arial"/>
                <a:cs typeface="Arial"/>
              </a:rPr>
              <a:t>Bonus: Builds personalized practice sets from past mistakes.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2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2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2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2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2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2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" name="Google Shape;68;p2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" name="Google Shape;69;p2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2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2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2" name="Google Shape;72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2" descr="preencoded.png"/>
          <p:cNvPicPr preferRelativeResize="0"/>
          <p:nvPr/>
        </p:nvPicPr>
        <p:blipFill rotWithShape="1">
          <a:blip r:embed="rId7">
            <a:alphaModFix amt="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0037" y="1065685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/>
          <p:nvPr/>
        </p:nvSpPr>
        <p:spPr>
          <a:xfrm>
            <a:off x="432197" y="1075134"/>
            <a:ext cx="8279700" cy="3707700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3003166" y="678656"/>
            <a:ext cx="3137669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/>
              <a:buNone/>
            </a:pPr>
            <a:r>
              <a:rPr lang="en-US" sz="1688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 06</a:t>
            </a:r>
            <a:endParaRPr sz="16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sp>
        <p:nvSpPr>
          <p:cNvPr id="500" name="TrackContent"/>
          <p:cNvSpPr txBox="1"/>
          <p:nvPr/>
        </p:nvSpPr>
        <p:spPr>
          <a:xfrm>
            <a:off x="520000" y="1160000"/>
            <a:ext cx="8100000" cy="3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endParaRPr lang="en-US" sz="2400" b="1" dirty="0">
              <a:solidFill>
                <a:srgbClr val="C9A84C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9A84C"/>
                </a:solidFill>
                <a:latin typeface="Arial"/>
                <a:ea typeface="Arial"/>
                <a:cs typeface="Arial"/>
              </a:rPr>
              <a:t>AI Event Planning Agent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An AI agent that manages an event start to finish:</a:t>
            </a:r>
          </a:p>
          <a:p>
            <a:pPr marL="0" marR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endParaRPr lang="en-US" sz="1400" i="1" dirty="0">
              <a:solidFill>
                <a:srgbClr val="E8DCC8"/>
              </a:solidFill>
              <a:latin typeface="Arial"/>
              <a:ea typeface="Arial"/>
              <a:cs typeface="Arial"/>
            </a:endParaRP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Suggests venues, vendors, and timelines within budget.</a:t>
            </a: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Tracks RSVPs, spend, and vendor communication.</a:t>
            </a: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Sends reminders to guests and vendors as the date nears.</a:t>
            </a: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rgbClr val="3ECFCF"/>
                </a:solidFill>
                <a:latin typeface="Arial"/>
                <a:ea typeface="Arial"/>
                <a:cs typeface="Arial"/>
              </a:rPr>
              <a:t>Bonus: Auto-adjusts logistics if headcount or budget shifts.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2"/>
          <p:cNvCxnSpPr/>
          <p:nvPr/>
        </p:nvCxnSpPr>
        <p:spPr>
          <a:xfrm>
            <a:off x="64003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2"/>
          <p:cNvCxnSpPr/>
          <p:nvPr/>
        </p:nvCxnSpPr>
        <p:spPr>
          <a:xfrm>
            <a:off x="7646715" y="853678"/>
            <a:ext cx="857250" cy="0"/>
          </a:xfrm>
          <a:prstGeom prst="straightConnector1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2"/>
          <p:cNvCxnSpPr/>
          <p:nvPr/>
        </p:nvCxnSpPr>
        <p:spPr>
          <a:xfrm>
            <a:off x="342900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2"/>
          <p:cNvCxnSpPr/>
          <p:nvPr/>
        </p:nvCxnSpPr>
        <p:spPr>
          <a:xfrm>
            <a:off x="350044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2"/>
          <p:cNvCxnSpPr/>
          <p:nvPr/>
        </p:nvCxnSpPr>
        <p:spPr>
          <a:xfrm>
            <a:off x="8372475" y="1007269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2"/>
          <p:cNvCxnSpPr/>
          <p:nvPr/>
        </p:nvCxnSpPr>
        <p:spPr>
          <a:xfrm>
            <a:off x="8793956" y="1000125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" name="Google Shape;68;p2"/>
          <p:cNvCxnSpPr/>
          <p:nvPr/>
        </p:nvCxnSpPr>
        <p:spPr>
          <a:xfrm>
            <a:off x="342900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" name="Google Shape;69;p2"/>
          <p:cNvCxnSpPr/>
          <p:nvPr/>
        </p:nvCxnSpPr>
        <p:spPr>
          <a:xfrm>
            <a:off x="350044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2"/>
          <p:cNvCxnSpPr/>
          <p:nvPr/>
        </p:nvCxnSpPr>
        <p:spPr>
          <a:xfrm>
            <a:off x="8793956" y="4443413"/>
            <a:ext cx="0" cy="428625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2"/>
          <p:cNvCxnSpPr/>
          <p:nvPr/>
        </p:nvCxnSpPr>
        <p:spPr>
          <a:xfrm>
            <a:off x="8372475" y="4864894"/>
            <a:ext cx="428625" cy="0"/>
          </a:xfrm>
          <a:prstGeom prst="straightConnector1">
            <a:avLst/>
          </a:prstGeom>
          <a:noFill/>
          <a:ln w="1427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2" name="Google Shape;72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0071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6738" y="0"/>
            <a:ext cx="4286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7835354" y="0"/>
            <a:ext cx="28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6219" y="4679156"/>
            <a:ext cx="1071563" cy="25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57625" y="4893469"/>
            <a:ext cx="1428750" cy="25003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/>
          <p:nvPr/>
        </p:nvSpPr>
        <p:spPr>
          <a:xfrm>
            <a:off x="3861197" y="4897041"/>
            <a:ext cx="1421606" cy="242888"/>
          </a:xfrm>
          <a:prstGeom prst="rect">
            <a:avLst/>
          </a:prstGeom>
          <a:noFill/>
          <a:ln w="9525" cap="flat" cmpd="sng">
            <a:solidFill>
              <a:srgbClr val="00B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2" descr="preencoded.png"/>
          <p:cNvPicPr preferRelativeResize="0"/>
          <p:nvPr/>
        </p:nvPicPr>
        <p:blipFill rotWithShape="1">
          <a:blip r:embed="rId7">
            <a:alphaModFix amt="2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457200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0037" y="1065685"/>
            <a:ext cx="8286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/>
          <p:nvPr/>
        </p:nvSpPr>
        <p:spPr>
          <a:xfrm>
            <a:off x="432197" y="1075134"/>
            <a:ext cx="8279700" cy="3707700"/>
          </a:xfrm>
          <a:prstGeom prst="roundRect">
            <a:avLst>
              <a:gd name="adj" fmla="val 3083"/>
            </a:avLst>
          </a:prstGeom>
          <a:noFill/>
          <a:ln w="9525" cap="flat" cmpd="sng">
            <a:solidFill>
              <a:srgbClr val="3ECF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97459" y="1522735"/>
            <a:ext cx="7144" cy="2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255639" y="2003822"/>
            <a:ext cx="7144" cy="20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79242" y="1744749"/>
            <a:ext cx="7144" cy="2405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737422" y="1374725"/>
            <a:ext cx="7144" cy="296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061025" y="2188778"/>
            <a:ext cx="7144" cy="185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219094" y="1633686"/>
            <a:ext cx="7144" cy="259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129141" y="1818754"/>
            <a:ext cx="7144" cy="22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/>
          <p:nvPr/>
        </p:nvSpPr>
        <p:spPr>
          <a:xfrm>
            <a:off x="2255639" y="2854821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737422" y="237384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061025" y="300294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097459" y="3372966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7219094" y="2558802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579242" y="3113894"/>
            <a:ext cx="28575" cy="28575"/>
          </a:xfrm>
          <a:prstGeom prst="ellipse">
            <a:avLst/>
          </a:prstGeom>
          <a:solidFill>
            <a:srgbClr val="3ECFCF">
              <a:alpha val="20000"/>
            </a:srgbClr>
          </a:solidFill>
          <a:ln>
            <a:noFill/>
          </a:ln>
          <a:effectLst>
            <a:outerShdw blurRad="57150" dist="50800" dir="16200000" algn="bl" rotWithShape="0">
              <a:srgbClr val="3ECFCF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595972" y="571500"/>
            <a:ext cx="395205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2599544" y="575072"/>
            <a:ext cx="3944913" cy="450056"/>
          </a:xfrm>
          <a:prstGeom prst="roundRect">
            <a:avLst>
              <a:gd name="adj" fmla="val 16931"/>
            </a:avLst>
          </a:prstGeom>
          <a:noFill/>
          <a:ln w="9525" cap="flat" cmpd="sng">
            <a:solidFill>
              <a:srgbClr val="C9A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3003166" y="678656"/>
            <a:ext cx="3137669" cy="242888"/>
          </a:xfrm>
          <a:prstGeom prst="rect">
            <a:avLst/>
          </a:prstGeom>
          <a:noFill/>
          <a:ln>
            <a:noFill/>
          </a:ln>
          <a:effectLst>
            <a:outerShdw blurRad="114300" dist="50800" dir="16200000" algn="bl" rotWithShape="0">
              <a:srgbClr val="C9A84C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7"/>
              <a:buFont typeface="Arial"/>
              <a:buNone/>
            </a:pPr>
            <a:r>
              <a:rPr lang="en-US" sz="1688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 07</a:t>
            </a:r>
            <a:endParaRPr sz="16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712518" y="4840605"/>
            <a:ext cx="120015" cy="12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58462" y="126113"/>
            <a:ext cx="755925" cy="7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8325451" y="135564"/>
            <a:ext cx="737003" cy="737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sp>
        <p:nvSpPr>
          <p:cNvPr id="500" name="TrackContent"/>
          <p:cNvSpPr txBox="1"/>
          <p:nvPr/>
        </p:nvSpPr>
        <p:spPr>
          <a:xfrm>
            <a:off x="486787" y="1136213"/>
            <a:ext cx="8100000" cy="3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endParaRPr lang="en-US" sz="2400" b="1" dirty="0">
              <a:solidFill>
                <a:srgbClr val="C9A84C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9A84C"/>
                </a:solidFill>
                <a:latin typeface="Arial"/>
                <a:ea typeface="Arial"/>
                <a:cs typeface="Arial"/>
              </a:rPr>
              <a:t>Open Innovation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A wildcard track for any AI agent idea outside the listed tracks:</a:t>
            </a:r>
          </a:p>
          <a:p>
            <a:pPr marL="0" marR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endParaRPr lang="en-US" sz="1400" i="1" dirty="0">
              <a:solidFill>
                <a:srgbClr val="E8DCC8"/>
              </a:solidFill>
              <a:latin typeface="Arial"/>
              <a:ea typeface="Arial"/>
              <a:cs typeface="Arial"/>
            </a:endParaRP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Pick any real-world problem you want to solve with an AI agent.</a:t>
            </a: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Not restricted to the themes covered in Tracks 1-6.</a:t>
            </a:r>
          </a:p>
          <a:p>
            <a:pPr marL="285750" marR="0" lvl="0" indent="-228600" algn="l" rtl="0">
              <a:spcBef>
                <a:spcPts val="0"/>
              </a:spcBef>
              <a:spcAft>
                <a:spcPts val="600"/>
              </a:spcAft>
              <a:buClr>
                <a:srgbClr val="3ECFCF"/>
              </a:buClr>
              <a:buFont typeface="Arial"/>
              <a:buChar char="●"/>
            </a:pPr>
            <a:r>
              <a:rPr lang="en-US" sz="2000" dirty="0">
                <a:solidFill>
                  <a:srgbClr val="E8DCC8"/>
                </a:solidFill>
                <a:latin typeface="Arial"/>
                <a:ea typeface="Arial"/>
                <a:cs typeface="Arial"/>
              </a:rPr>
              <a:t>Judged on originality, feasibility, and real-world impact.</a:t>
            </a: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 i="1" dirty="0">
                <a:solidFill>
                  <a:srgbClr val="3ECFCF"/>
                </a:solidFill>
                <a:latin typeface="Arial"/>
                <a:ea typeface="Arial"/>
                <a:cs typeface="Arial"/>
              </a:rPr>
              <a:t>Bonus: Extra credit for tackling a genuinely novel problem space.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373</Words>
  <Application>Microsoft Office PowerPoint</Application>
  <PresentationFormat>On-screen Show (16:9)</PresentationFormat>
  <Paragraphs>67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Quattrocento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Arnav Bansal</cp:lastModifiedBy>
  <cp:revision>4</cp:revision>
  <dcterms:created xsi:type="dcterms:W3CDTF">2026-07-08T11:23:50Z</dcterms:created>
  <dcterms:modified xsi:type="dcterms:W3CDTF">2026-07-20T12:40:36Z</dcterms:modified>
</cp:coreProperties>
</file>